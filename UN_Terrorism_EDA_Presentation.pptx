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1 — Attacks Per Year (1970–2017)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Attacks</c:v>
                </c:pt>
              </c:strCache>
            </c:strRef>
          </c:tx>
          <c:spPr>
            <a:solidFill>
              <a:srgbClr val="E63946"/>
            </a:solidFill>
            <a:ln w="3175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Sheet1!$A$2:$A$14</c:f>
              <c:multiLvlStrCache>
                <c:ptCount val="13"/>
                <c:lvl>
                  <c:pt idx="0">
                    <c:v>1970</c:v>
                  </c:pt>
                  <c:pt idx="1">
                    <c:v>1975</c:v>
                  </c:pt>
                  <c:pt idx="2">
                    <c:v>1980</c:v>
                  </c:pt>
                  <c:pt idx="3">
                    <c:v>1985</c:v>
                  </c:pt>
                  <c:pt idx="4">
                    <c:v>1990</c:v>
                  </c:pt>
                  <c:pt idx="5">
                    <c:v>1995</c:v>
                  </c:pt>
                  <c:pt idx="6">
                    <c:v>2000</c:v>
                  </c:pt>
                  <c:pt idx="7">
                    <c:v>2005</c:v>
                  </c:pt>
                  <c:pt idx="8">
                    <c:v>2010</c:v>
                  </c:pt>
                  <c:pt idx="9">
                    <c:v>2012</c:v>
                  </c:pt>
                  <c:pt idx="10">
                    <c:v>2014</c:v>
                  </c:pt>
                  <c:pt idx="11">
                    <c:v>2016</c:v>
                  </c:pt>
                  <c:pt idx="12">
                    <c:v>2017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651</c:v>
                </c:pt>
                <c:pt idx="1">
                  <c:v>912</c:v>
                </c:pt>
                <c:pt idx="2">
                  <c:v>2665</c:v>
                </c:pt>
                <c:pt idx="3">
                  <c:v>2916</c:v>
                </c:pt>
                <c:pt idx="4">
                  <c:v>4324</c:v>
                </c:pt>
                <c:pt idx="5">
                  <c:v>3073</c:v>
                </c:pt>
                <c:pt idx="6">
                  <c:v>1814</c:v>
                </c:pt>
                <c:pt idx="7">
                  <c:v>4995</c:v>
                </c:pt>
                <c:pt idx="8">
                  <c:v>11641</c:v>
                </c:pt>
                <c:pt idx="9">
                  <c:v>11774</c:v>
                </c:pt>
                <c:pt idx="10">
                  <c:v>16903</c:v>
                </c:pt>
                <c:pt idx="11">
                  <c:v>13587</c:v>
                </c:pt>
                <c:pt idx="12">
                  <c:v>10900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2 — Attack Types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Bombing</c:v>
                  </c:pt>
                  <c:pt idx="1">
                    <c:v>Armed Assault</c:v>
                  </c:pt>
                  <c:pt idx="2">
                    <c:v>Assassination</c:v>
                  </c:pt>
                  <c:pt idx="3">
                    <c:v>Facility Attack</c:v>
                  </c:pt>
                  <c:pt idx="4">
                    <c:v>Hostage</c:v>
                  </c:pt>
                  <c:pt idx="5">
                    <c:v>Unarmed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83432</c:v>
                </c:pt>
                <c:pt idx="1">
                  <c:v>42977</c:v>
                </c:pt>
                <c:pt idx="2">
                  <c:v>18973</c:v>
                </c:pt>
                <c:pt idx="3">
                  <c:v>16466</c:v>
                </c:pt>
                <c:pt idx="4">
                  <c:v>9641</c:v>
                </c:pt>
                <c:pt idx="5">
                  <c:v>773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3 — Attacks by Region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MENA</c:v>
                  </c:pt>
                  <c:pt idx="1">
                    <c:v>South Asia</c:v>
                  </c:pt>
                  <c:pt idx="2">
                    <c:v>Sub-Saharan Africa</c:v>
                  </c:pt>
                  <c:pt idx="3">
                    <c:v>W. Europe</c:v>
                  </c:pt>
                  <c:pt idx="4">
                    <c:v>S. America</c:v>
                  </c:pt>
                  <c:pt idx="5">
                    <c:v>SE Asia</c:v>
                  </c:pt>
                  <c:pt idx="6">
                    <c:v>E. Europe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47049</c:v>
                </c:pt>
                <c:pt idx="1">
                  <c:v>44164</c:v>
                </c:pt>
                <c:pt idx="2">
                  <c:v>24609</c:v>
                </c:pt>
                <c:pt idx="3">
                  <c:v>19896</c:v>
                </c:pt>
                <c:pt idx="4">
                  <c:v>14966</c:v>
                </c:pt>
                <c:pt idx="5">
                  <c:v>11553</c:v>
                </c:pt>
                <c:pt idx="6">
                  <c:v>9399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4 — Top 10 Countries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6B6D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Iraq</c:v>
                  </c:pt>
                  <c:pt idx="1">
                    <c:v>Pakistan</c:v>
                  </c:pt>
                  <c:pt idx="2">
                    <c:v>Afghanistan</c:v>
                  </c:pt>
                  <c:pt idx="3">
                    <c:v>India</c:v>
                  </c:pt>
                  <c:pt idx="4">
                    <c:v>Colombia</c:v>
                  </c:pt>
                  <c:pt idx="5">
                    <c:v>Philippines</c:v>
                  </c:pt>
                  <c:pt idx="6">
                    <c:v>Peru</c:v>
                  </c:pt>
                  <c:pt idx="7">
                    <c:v>El Salvador</c:v>
                  </c:pt>
                  <c:pt idx="8">
                    <c:v>Nigeria</c:v>
                  </c:pt>
                  <c:pt idx="9">
                    <c:v>UK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24636</c:v>
                </c:pt>
                <c:pt idx="1">
                  <c:v>14368</c:v>
                </c:pt>
                <c:pt idx="2">
                  <c:v>12759</c:v>
                </c:pt>
                <c:pt idx="3">
                  <c:v>11960</c:v>
                </c:pt>
                <c:pt idx="4">
                  <c:v>7983</c:v>
                </c:pt>
                <c:pt idx="5">
                  <c:v>7224</c:v>
                </c:pt>
                <c:pt idx="6">
                  <c:v>5551</c:v>
                </c:pt>
                <c:pt idx="7">
                  <c:v>5135</c:v>
                </c:pt>
                <c:pt idx="8">
                  <c:v>4873</c:v>
                </c:pt>
                <c:pt idx="9">
                  <c:v>4839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5 — Fatalities Distribution (Histogram approximation)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Incidents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0 killed</c:v>
                  </c:pt>
                  <c:pt idx="1">
                    <c:v>1 killed</c:v>
                  </c:pt>
                  <c:pt idx="2">
                    <c:v>2 killed</c:v>
                  </c:pt>
                  <c:pt idx="3">
                    <c:v>3 killed</c:v>
                  </c:pt>
                  <c:pt idx="4">
                    <c:v>4 killed</c:v>
                  </c:pt>
                  <c:pt idx="5">
                    <c:v>5 killed</c:v>
                  </c:pt>
                  <c:pt idx="6">
                    <c:v>6–10</c:v>
                  </c:pt>
                  <c:pt idx="7">
                    <c:v>11–20</c:v>
                  </c:pt>
                  <c:pt idx="8">
                    <c:v>21–50</c:v>
                  </c:pt>
                  <c:pt idx="9">
                    <c:v>51+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76890</c:v>
                </c:pt>
                <c:pt idx="1">
                  <c:v>28450</c:v>
                </c:pt>
                <c:pt idx="2">
                  <c:v>18230</c:v>
                </c:pt>
                <c:pt idx="3">
                  <c:v>11890</c:v>
                </c:pt>
                <c:pt idx="4">
                  <c:v>8540</c:v>
                </c:pt>
                <c:pt idx="5">
                  <c:v>6720</c:v>
                </c:pt>
                <c:pt idx="6">
                  <c:v>14300</c:v>
                </c:pt>
                <c:pt idx="7">
                  <c:v>7890</c:v>
                </c:pt>
                <c:pt idx="8">
                  <c:v>5230</c:v>
                </c:pt>
                <c:pt idx="9">
                  <c:v>3551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6 — Avg Fatalities by Attack Type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Killed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Hostage/Kidnap</c:v>
                  </c:pt>
                  <c:pt idx="1">
                    <c:v>Bombing</c:v>
                  </c:pt>
                  <c:pt idx="2">
                    <c:v>Armed Assault</c:v>
                  </c:pt>
                  <c:pt idx="3">
                    <c:v>Assassination</c:v>
                  </c:pt>
                  <c:pt idx="4">
                    <c:v>Facility Attack</c:v>
                  </c:pt>
                  <c:pt idx="5">
                    <c:v>Unarmed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3.42</c:v>
                </c:pt>
                <c:pt idx="1">
                  <c:v>2.89</c:v>
                </c:pt>
                <c:pt idx="2">
                  <c:v>2.41</c:v>
                </c:pt>
                <c:pt idx="3">
                  <c:v>1.87</c:v>
                </c:pt>
                <c:pt idx="4">
                  <c:v>1.23</c:v>
                </c:pt>
                <c:pt idx="5">
                  <c:v>0.44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7 — Total Fatalities by Region (Thousands)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Fatalities (K)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MENA</c:v>
                  </c:pt>
                  <c:pt idx="1">
                    <c:v>South Asia</c:v>
                  </c:pt>
                  <c:pt idx="2">
                    <c:v>Sub-Saharan Africa</c:v>
                  </c:pt>
                  <c:pt idx="3">
                    <c:v>S. America</c:v>
                  </c:pt>
                  <c:pt idx="4">
                    <c:v>SE Asia</c:v>
                  </c:pt>
                  <c:pt idx="5">
                    <c:v>W. Europe</c:v>
                  </c:pt>
                  <c:pt idx="6">
                    <c:v>C. America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96.2</c:v>
                </c:pt>
                <c:pt idx="1">
                  <c:v>75.4</c:v>
                </c:pt>
                <c:pt idx="2">
                  <c:v>41.8</c:v>
                </c:pt>
                <c:pt idx="3">
                  <c:v>22.3</c:v>
                </c:pt>
                <c:pt idx="4">
                  <c:v>18.9</c:v>
                </c:pt>
                <c:pt idx="5">
                  <c:v>13.7</c:v>
                </c:pt>
                <c:pt idx="6">
                  <c:v>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8 — Top 10 Most Active Groups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203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Taliban</c:v>
                  </c:pt>
                  <c:pt idx="1">
                    <c:v>ISIL</c:v>
                  </c:pt>
                  <c:pt idx="2">
                    <c:v>Shining Path</c:v>
                  </c:pt>
                  <c:pt idx="3">
                    <c:v>FARC</c:v>
                  </c:pt>
                  <c:pt idx="4">
                    <c:v>Al-Shabaab</c:v>
                  </c:pt>
                  <c:pt idx="5">
                    <c:v>Boko Haram</c:v>
                  </c:pt>
                  <c:pt idx="6">
                    <c:v>IRA</c:v>
                  </c:pt>
                  <c:pt idx="7">
                    <c:v>NPA</c:v>
                  </c:pt>
                  <c:pt idx="8">
                    <c:v>PKK</c:v>
                  </c:pt>
                  <c:pt idx="9">
                    <c:v>TTP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7478</c:v>
                </c:pt>
                <c:pt idx="1">
                  <c:v>6049</c:v>
                </c:pt>
                <c:pt idx="2">
                  <c:v>4965</c:v>
                </c:pt>
                <c:pt idx="3">
                  <c:v>4690</c:v>
                </c:pt>
                <c:pt idx="4">
                  <c:v>3571</c:v>
                </c:pt>
                <c:pt idx="5">
                  <c:v>2592</c:v>
                </c:pt>
                <c:pt idx="6">
                  <c:v>2563</c:v>
                </c:pt>
                <c:pt idx="7">
                  <c:v>2413</c:v>
                </c:pt>
                <c:pt idx="8">
                  <c:v>2210</c:v>
                </c:pt>
                <c:pt idx="9">
                  <c:v>1953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9 — Regional Attack Trends (1990–2016)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MENA</c:v>
                </c:pt>
              </c:strCache>
            </c:strRef>
          </c:tx>
          <c:spPr>
            <a:solidFill>
              <a:srgbClr val="E63946"/>
            </a:solidFill>
            <a:ln w="2540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2012</c:v>
                  </c:pt>
                  <c:pt idx="6">
                    <c:v>2014</c:v>
                  </c:pt>
                  <c:pt idx="7">
                    <c:v>2016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1024</c:v>
                </c:pt>
                <c:pt idx="1">
                  <c:v>1287</c:v>
                </c:pt>
                <c:pt idx="2">
                  <c:v>1043</c:v>
                </c:pt>
                <c:pt idx="3">
                  <c:v>2345</c:v>
                </c:pt>
                <c:pt idx="4">
                  <c:v>4321</c:v>
                </c:pt>
                <c:pt idx="5">
                  <c:v>6891</c:v>
                </c:pt>
                <c:pt idx="6">
                  <c:v>9834</c:v>
                </c:pt>
                <c:pt idx="7">
                  <c:v>7654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 Asia</c:v>
                </c:pt>
              </c:strCache>
            </c:strRef>
          </c:tx>
          <c:spPr>
            <a:solidFill>
              <a:srgbClr val="1A6BAD"/>
            </a:solidFill>
            <a:ln w="25400" cap="flat">
              <a:solidFill>
                <a:srgbClr val="1A6BA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6BAD"/>
              </a:solidFill>
              <a:ln w="9525" cap="flat">
                <a:solidFill>
                  <a:srgbClr val="1A6BA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2012</c:v>
                  </c:pt>
                  <c:pt idx="6">
                    <c:v>2014</c:v>
                  </c:pt>
                  <c:pt idx="7">
                    <c:v>2016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1456</c:v>
                </c:pt>
                <c:pt idx="1">
                  <c:v>1834</c:v>
                </c:pt>
                <c:pt idx="2">
                  <c:v>1523</c:v>
                </c:pt>
                <c:pt idx="3">
                  <c:v>2765</c:v>
                </c:pt>
                <c:pt idx="4">
                  <c:v>4123</c:v>
                </c:pt>
                <c:pt idx="5">
                  <c:v>4567</c:v>
                </c:pt>
                <c:pt idx="6">
                  <c:v>4312</c:v>
                </c:pt>
                <c:pt idx="7">
                  <c:v>3987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S. America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2012</c:v>
                  </c:pt>
                  <c:pt idx="6">
                    <c:v>2014</c:v>
                  </c:pt>
                  <c:pt idx="7">
                    <c:v>2016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3456</c:v>
                </c:pt>
                <c:pt idx="1">
                  <c:v>2987</c:v>
                </c:pt>
                <c:pt idx="2">
                  <c:v>1345</c:v>
                </c:pt>
                <c:pt idx="3">
                  <c:v>876</c:v>
                </c:pt>
                <c:pt idx="4">
                  <c:v>543</c:v>
                </c:pt>
                <c:pt idx="5">
                  <c:v>421</c:v>
                </c:pt>
                <c:pt idx="6">
                  <c:v>387</c:v>
                </c:pt>
                <c:pt idx="7">
                  <c:v>312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W. Europe</c:v>
                </c:pt>
              </c:strCache>
            </c:strRef>
          </c:tx>
          <c:spPr>
            <a:solidFill>
              <a:srgbClr val="F4A261"/>
            </a:solidFill>
            <a:ln w="25400" cap="flat">
              <a:solidFill>
                <a:srgbClr val="F4A2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1990</c:v>
                  </c:pt>
                  <c:pt idx="1">
                    <c:v>1995</c:v>
                  </c:pt>
                  <c:pt idx="2">
                    <c:v>2000</c:v>
                  </c:pt>
                  <c:pt idx="3">
                    <c:v>2005</c:v>
                  </c:pt>
                  <c:pt idx="4">
                    <c:v>2010</c:v>
                  </c:pt>
                  <c:pt idx="5">
                    <c:v>2012</c:v>
                  </c:pt>
                  <c:pt idx="6">
                    <c:v>2014</c:v>
                  </c:pt>
                  <c:pt idx="7">
                    <c:v>2016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1234</c:v>
                </c:pt>
                <c:pt idx="1">
                  <c:v>987</c:v>
                </c:pt>
                <c:pt idx="2">
                  <c:v>543</c:v>
                </c:pt>
                <c:pt idx="3">
                  <c:v>432</c:v>
                </c:pt>
                <c:pt idx="4">
                  <c:v>378</c:v>
                </c:pt>
                <c:pt idx="5">
                  <c:v>334</c:v>
                </c:pt>
                <c:pt idx="6">
                  <c:v>456</c:v>
                </c:pt>
                <c:pt idx="7">
                  <c:v>432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Chart 10 — Target Type Frequency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Attacks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96F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Private Citizens</c:v>
                  </c:pt>
                  <c:pt idx="1">
                    <c:v>Military</c:v>
                  </c:pt>
                  <c:pt idx="2">
                    <c:v>Government</c:v>
                  </c:pt>
                  <c:pt idx="3">
                    <c:v>Police</c:v>
                  </c:pt>
                  <c:pt idx="4">
                    <c:v>Business</c:v>
                  </c:pt>
                  <c:pt idx="5">
                    <c:v>Transportation</c:v>
                  </c:pt>
                  <c:pt idx="6">
                    <c:v>Utilities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43509</c:v>
                </c:pt>
                <c:pt idx="1">
                  <c:v>27560</c:v>
                </c:pt>
                <c:pt idx="2">
                  <c:v>24156</c:v>
                </c:pt>
                <c:pt idx="3">
                  <c:v>21908</c:v>
                </c:pt>
                <c:pt idx="4">
                  <c:v>18823</c:v>
                </c:pt>
                <c:pt idx="5">
                  <c:v>6893</c:v>
                </c:pt>
                <c:pt idx="6">
                  <c:v>4234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900" b="0" i="0" u="none" strike="noStrike">
                <a:solidFill>
                  <a:srgbClr val="1E293B"/>
                </a:solidFill>
                <a:latin typeface="Arial"/>
              </a:rPr>
              <a:t>Chart 11 — Claimed vs Unclaimed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Killed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Claimed</c:v>
                  </c:pt>
                  <c:pt idx="1">
                    <c:v>Unclaimed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3.12</c:v>
                </c:pt>
                <c:pt idx="1">
                  <c:v>2.04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900" b="0" i="0" u="none" strike="noStrike">
                <a:solidFill>
                  <a:srgbClr val="1E293B"/>
                </a:solidFill>
                <a:latin typeface="Arial"/>
              </a:rPr>
              <a:t>Chart 12 — Weapon Fatalities (Thousands)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Killed (K)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6BA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Explosives</c:v>
                  </c:pt>
                  <c:pt idx="1">
                    <c:v>Firearms</c:v>
                  </c:pt>
                  <c:pt idx="2">
                    <c:v>Incendiary</c:v>
                  </c:pt>
                  <c:pt idx="3">
                    <c:v>Melee</c:v>
                  </c:pt>
                  <c:pt idx="4">
                    <c:v>Vehicle</c:v>
                  </c:pt>
                  <c:pt idx="5">
                    <c:v>Chemical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150.2</c:v>
                </c:pt>
                <c:pt idx="1">
                  <c:v>91.8</c:v>
                </c:pt>
                <c:pt idx="2">
                  <c:v>28.4</c:v>
                </c:pt>
                <c:pt idx="3">
                  <c:v>12.3</c:v>
                </c:pt>
                <c:pt idx="4">
                  <c:v>8.9</c:v>
                </c:pt>
                <c:pt idx="5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188720"/>
            <a:ext cx="4389120" cy="4389120"/>
          </a:xfrm>
          <a:prstGeom prst="ellipse">
            <a:avLst/>
          </a:prstGeom>
          <a:solidFill>
            <a:srgbClr val="B02030">
              <a:alpha val="22000"/>
            </a:srgbClr>
          </a:solidFill>
          <a:ln w="12700">
            <a:solidFill>
              <a:srgbClr val="B02030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743200"/>
            <a:ext cx="2560320" cy="2560320"/>
          </a:xfrm>
          <a:prstGeom prst="ellipse">
            <a:avLst/>
          </a:prstGeom>
          <a:solidFill>
            <a:srgbClr val="1A3557">
              <a:alpha val="55000"/>
            </a:srgbClr>
          </a:solidFill>
          <a:ln w="12700">
            <a:solidFill>
              <a:srgbClr val="1A355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943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64008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 |  GLOBAL SECURITY INTELLIGENCE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7200" y="118872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Terrorism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457200" y="208483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457200" y="30906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|  1970 – 2017  |  181,691 Incidents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547872"/>
            <a:ext cx="32004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703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Bijay Deep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Capstone Project  |  Data Science &amp; Analytics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438912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972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11612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14630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terrorism landscape — scale &amp; evolution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011680"/>
            <a:ext cx="438912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0116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" y="20756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" y="23774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 &amp; 6 analytical questions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260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26080"/>
            <a:ext cx="438912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260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" y="29900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Quality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2918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181K records, 135 features, missing value strategy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8404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40480"/>
            <a:ext cx="438912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404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" y="39044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4672" y="42062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testable assumptions before diving into analysis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0972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097280"/>
            <a:ext cx="438912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0972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9512" y="11612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 Visualizations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39512" y="14630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charts — Univariate → Bivariate → Multivariate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20116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011680"/>
            <a:ext cx="438912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0116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39512" y="20756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39512" y="23774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critical findings drawn from 47 years of 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9260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926080"/>
            <a:ext cx="438912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9260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39512" y="29900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39512" y="32918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strategies for global security stakeholders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840480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840480"/>
            <a:ext cx="438912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840480"/>
            <a:ext cx="4389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39512" y="3904488"/>
            <a:ext cx="3630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39512" y="4206240"/>
            <a:ext cx="3630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Summary, limitations &amp; future research directions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4114800" cy="4114800"/>
          </a:xfrm>
          <a:prstGeom prst="ellipse">
            <a:avLst/>
          </a:prstGeom>
          <a:solidFill>
            <a:srgbClr val="1A3557">
              <a:alpha val="45000"/>
            </a:srgbClr>
          </a:solidFill>
          <a:ln w="12700">
            <a:solidFill>
              <a:srgbClr val="1A3557">
                <a:alpha val="4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Terrorism Landscape — Scale, Evolution &amp; Significance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1920240" cy="1207008"/>
          </a:xfrm>
          <a:prstGeom prst="rect">
            <a:avLst/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55648"/>
            <a:ext cx="1920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47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181,691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395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Attacks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1970–2017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87168" y="1755648"/>
            <a:ext cx="1920240" cy="1207008"/>
          </a:xfrm>
          <a:prstGeom prst="rect">
            <a:avLst/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755648"/>
            <a:ext cx="1920240" cy="54864"/>
          </a:xfrm>
          <a:prstGeom prst="rect">
            <a:avLst/>
          </a:prstGeom>
          <a:solidFill>
            <a:srgbClr val="1A6BAD"/>
          </a:solidFill>
          <a:ln w="12700">
            <a:solidFill>
              <a:srgbClr val="1A6B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1847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487168" y="2395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755648"/>
            <a:ext cx="1920240" cy="1207008"/>
          </a:xfrm>
          <a:prstGeom prst="rect">
            <a:avLst/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755648"/>
            <a:ext cx="192024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847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Yrs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08576" y="2395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Terrorism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29984" y="1755648"/>
            <a:ext cx="1920240" cy="1207008"/>
          </a:xfrm>
          <a:prstGeom prst="rect">
            <a:avLst/>
          </a:prstGeom>
          <a:solidFill>
            <a:srgbClr val="1A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29984" y="1755648"/>
            <a:ext cx="1920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29984" y="1847088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10/day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29984" y="23957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Attacks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Day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127248"/>
            <a:ext cx="1920240" cy="16916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127248"/>
            <a:ext cx="192024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1970s–90s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511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Insurgencies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87705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IRA, ETA, FARC,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Shining Path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87168" y="3127248"/>
            <a:ext cx="1920240" cy="16916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8" name="Shape 26"/>
          <p:cNvSpPr/>
          <p:nvPr/>
        </p:nvSpPr>
        <p:spPr>
          <a:xfrm>
            <a:off x="2487168" y="3127248"/>
            <a:ext cx="192024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87168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87168" y="3511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 Turning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487168" y="387705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counter-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terrorism era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08576" y="3127248"/>
            <a:ext cx="1920240" cy="16916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3" name="Shape 31"/>
          <p:cNvSpPr/>
          <p:nvPr/>
        </p:nvSpPr>
        <p:spPr>
          <a:xfrm>
            <a:off x="4608576" y="3127248"/>
            <a:ext cx="1920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08576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08576" y="3511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 Spring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Fallout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608576" y="387705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destabilizes;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ISIL emerges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29984" y="3127248"/>
            <a:ext cx="1920240" cy="16916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8" name="Shape 36"/>
          <p:cNvSpPr/>
          <p:nvPr/>
        </p:nvSpPr>
        <p:spPr>
          <a:xfrm>
            <a:off x="6729984" y="3127248"/>
            <a:ext cx="1920240" cy="54864"/>
          </a:xfrm>
          <a:prstGeom prst="rect">
            <a:avLst/>
          </a:prstGeom>
          <a:solidFill>
            <a:srgbClr val="B02030"/>
          </a:solidFill>
          <a:ln w="12700">
            <a:solidFill>
              <a:srgbClr val="B0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9984" y="321868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2014–16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29984" y="351129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Peak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729984" y="387705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ISIL territorial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Business Objective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— Why this analysis matters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160520" cy="3767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1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6052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8872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How has global terrorism trended from 1970–2017?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06654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Which countries &amp; regions are most affected?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What attack methods and weapons dominate?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05409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 Which terrorist organizations are most active?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54787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 What are the true human costs by region?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404164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 Can we learn from regions that reduced terrorism?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81728" y="1078992"/>
            <a:ext cx="4187952" cy="37673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81728" y="1078992"/>
            <a:ext cx="4187952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188720"/>
            <a:ext cx="3822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Stakeholders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73168" y="1572768"/>
            <a:ext cx="391363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16093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Security Council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0" y="1609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Peacekeeping deployment decisions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73168" y="2066544"/>
            <a:ext cx="39136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103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Intelligence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prioritization &amp; surveillance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73168" y="2560320"/>
            <a:ext cx="391363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59689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Humanitarian NGOs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858000" y="2596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 allocation in conflict zones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73168" y="3054096"/>
            <a:ext cx="39136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Multinational Corporations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58000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 assessments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73168" y="3547872"/>
            <a:ext cx="3913632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35844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Researchers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858000" y="35844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conflict studies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73168" y="4041648"/>
            <a:ext cx="3913632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4078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Think-Tanks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40782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Counter-terrorism strategy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Global Terrorism Database (GTD), START Center, University of Maryland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1078992"/>
            <a:ext cx="1965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078992"/>
            <a:ext cx="19659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181,691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8600" y="1755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Incidents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23160" y="1078992"/>
            <a:ext cx="1965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078992"/>
            <a:ext cx="1965960" cy="64008"/>
          </a:xfrm>
          <a:prstGeom prst="rect">
            <a:avLst/>
          </a:prstGeom>
          <a:solidFill>
            <a:srgbClr val="1A6BAD"/>
          </a:solidFill>
          <a:ln w="12700">
            <a:solidFill>
              <a:srgbClr val="1A6B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23160" y="1755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17720" y="1078992"/>
            <a:ext cx="1965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078992"/>
            <a:ext cx="196596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17720" y="1755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12280" y="1078992"/>
            <a:ext cx="1965960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12280" y="1078992"/>
            <a:ext cx="196596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118872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1970–2017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812280" y="17556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2578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Used in Analysis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907792"/>
            <a:ext cx="859536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29260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331720" y="2926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83280" y="292608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218688"/>
            <a:ext cx="859536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2369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iyear / imonth / iday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331720" y="32369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int64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0" y="323697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of the incident (year, month, day)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474720"/>
            <a:ext cx="8595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49300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country_txt / region_txt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31720" y="34930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383280" y="349300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location — 205 countries, 12 regions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730752"/>
            <a:ext cx="859536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74904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attacktype1_txt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331720" y="37490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0" y="374904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method — bombing, assault, assassination etc.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3986784"/>
            <a:ext cx="8595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0050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weaptype1_txt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331720" y="4005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83280" y="400507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weapon category used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4320" y="4242816"/>
            <a:ext cx="859536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42611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targtype1_txt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31720" y="4261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383280" y="42611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type — civilian, government, military etc.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74320" y="4498848"/>
            <a:ext cx="8595360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5171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gname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331720" y="4517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383280" y="45171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responsible terrorist organization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4048" y="47731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nkill / nwound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331720" y="47731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3383280" y="47731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people killed and wounded per incident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Quality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— Missing values, duplicates &amp; outlier strategy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Strategy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335024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35024"/>
            <a:ext cx="54864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898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nkill / nwound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60934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Fill with 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17922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GTD convention: missing = no casualties reported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157984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57984"/>
            <a:ext cx="54864" cy="713232"/>
          </a:xfrm>
          <a:prstGeom prst="rect">
            <a:avLst/>
          </a:prstGeom>
          <a:solidFill>
            <a:srgbClr val="1A6BAD"/>
          </a:solidFill>
          <a:ln w="12700">
            <a:solidFill>
              <a:srgbClr val="1A6B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2128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3230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6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Fill "Unknown"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261518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is informational; doesn't affect region analysis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80944"/>
            <a:ext cx="54864" cy="7132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0358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25526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Fill with 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" y="343814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responsibility treated as unclaimed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803904"/>
            <a:ext cx="50292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03904"/>
            <a:ext cx="54864" cy="7132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85876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8912" y="4078224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Zero found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426110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eventid is unique — no duplicates detected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77840" y="1024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Strategy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577840" y="1335024"/>
            <a:ext cx="32918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577840" y="1335024"/>
            <a:ext cx="32918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87568" y="1426464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Outliers Are KEPT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87568" y="1773936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Terrorism data is inherently right-skewed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687568" y="2066544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Mass-casualty events (9/11, Beslan) are REAL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687568" y="2359152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Removing them would be analytically dishonest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87568" y="2651760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Capped versions created for visualization only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87568" y="2944368"/>
            <a:ext cx="3072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99th percentile cap used in distribution plots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77840" y="3493008"/>
            <a:ext cx="3291840" cy="1389888"/>
          </a:xfrm>
          <a:prstGeom prst="rect">
            <a:avLst/>
          </a:prstGeom>
          <a:solidFill>
            <a:srgbClr val="1A3557"/>
          </a:solidFill>
          <a:ln/>
        </p:spPr>
      </p:sp>
      <p:sp>
        <p:nvSpPr>
          <p:cNvPr id="37" name="Text 35"/>
          <p:cNvSpPr/>
          <p:nvPr/>
        </p:nvSpPr>
        <p:spPr>
          <a:xfrm>
            <a:off x="5687568" y="3566160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Types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87568" y="38953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columns: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589520" y="38953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87568" y="41879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columns: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589520" y="418795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87568" y="44805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columns used: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589520" y="44805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Analytical Hypotheses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Tested through data-driven evidence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20624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11430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increased significantly after 2001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6384" y="14447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9/11 triggered a sustained global surge in attacks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933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93392"/>
            <a:ext cx="420624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933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86384" y="20574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is the most targeted region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" y="23591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conflicts in Iraq, Syria &amp; Libya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07792"/>
            <a:ext cx="420624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9077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86384" y="29718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 is the most common attack type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86384" y="32735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IEDs are cheap, impactful &amp; widely available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8221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822192"/>
            <a:ext cx="420624" cy="76809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8221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86384" y="38862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Bombings cause the highest avg fatalities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86384" y="41879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Indiscriminate blast radius = mass casualties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0789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078992"/>
            <a:ext cx="420624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10789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21224" y="11430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Citizens are the most common target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221224" y="14447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targets are easier to attack; maximize fear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9160" y="19933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993392"/>
            <a:ext cx="420624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9933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21224" y="20574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Taliban &amp; ISIL lead active groups post-2000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221224" y="23591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expanded dramatically after 2001/2014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29077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9160" y="2907792"/>
            <a:ext cx="420624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9077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21224" y="29718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attacks result in fewer casualties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21224" y="32735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claim when impact is high enough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9160" y="38221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822192"/>
            <a:ext cx="420624" cy="76809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822192"/>
            <a:ext cx="420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21224" y="3886200"/>
            <a:ext cx="3648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Iraq is the single most attacked country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221224" y="4187952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Iraq War (2003) + ISIL = historic attack density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548640"/>
            <a:ext cx="4754880" cy="4754880"/>
          </a:xfrm>
          <a:prstGeom prst="ellipse">
            <a:avLst/>
          </a:prstGeom>
          <a:solidFill>
            <a:srgbClr val="E63946">
              <a:alpha val="13000"/>
            </a:srgbClr>
          </a:solidFill>
          <a:ln w="12700">
            <a:solidFill>
              <a:srgbClr val="E63946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07408"/>
            <a:ext cx="9144000" cy="73609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Charts  |  Univariate → Bivariate → Multivariate  |  Following the UBM Rule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2560320" cy="411480"/>
          </a:xfrm>
          <a:prstGeom prst="rect">
            <a:avLst/>
          </a:prstGeom>
          <a:solidFill>
            <a:srgbClr val="1A6BAD"/>
          </a:solidFill>
          <a:ln w="12700">
            <a:solidFill>
              <a:srgbClr val="1A6B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4480560"/>
            <a:ext cx="2560320" cy="4114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4480560"/>
            <a:ext cx="256032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4480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— Temporal Trend &amp; Attack Types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1 &amp; 2 of 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521208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3657600"/>
            <a:ext cx="516636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2014–2016 (ISIL expansion) — 3× higher than pre-2001 baseline</a:t>
            </a:r>
            <a:endParaRPr lang="en-US" sz="8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669280" y="1005840"/>
          <a:ext cx="320040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669280" y="3657600"/>
            <a:ext cx="320040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 = 45%+ of ALL attacks  (H3 Confirmed)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4320" y="3977640"/>
            <a:ext cx="859536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surged 3× after 9/11 (2001) — validating H1 fully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Peaked in 2014 at 16,900+ incidents — highest in recorded history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4632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Bombing/Explosion = 45%+ of all attacks globally — H3 confirmed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4632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decline after 2015 reflects ISIL rollback by coalition forces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— Geographic Distribution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3 &amp; 4 of 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493776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493776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leads with 47K attacks = 25% of global total  (H2 Confirmed)</a:t>
            </a:r>
            <a:endParaRPr lang="en-US" sz="8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94960" y="1005840"/>
          <a:ext cx="347472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394960" y="3657600"/>
            <a:ext cx="347472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Iraq = 24,636 — nearly 2× Pakistan (#2)  (H8 Confirmed)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4320" y="3977640"/>
            <a:ext cx="859536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+ South Asia together account for ~50% of all global attacks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Iraq alone has ~24,600 attacks — nearly 2× the second-ranked Pakistan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4632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countries span 4 different regions — terrorism is globally distributed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4632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Europe appears due to 1970s–80s IRA/ETA era, not recent activity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&amp; Bivariate — Casualty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5 &amp; 6 of 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466344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466344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right-skew — 42% of attacks result in 0 fatalities</a:t>
            </a:r>
            <a:endParaRPr lang="en-US" sz="8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120640" y="1005840"/>
          <a:ext cx="374904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120640" y="3657600"/>
            <a:ext cx="374904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Hostage/Kidnap = highest avg per incident — frequency is not the same as lethality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4320" y="3977640"/>
            <a:ext cx="859536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heavily right-skewed — median ≈ 1 fatality per attack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~42% of attacks result in zero fatalities (failed or property-only attacks)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4632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partially confirmed — bombing has high totals but not always top avg/attack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4632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the rare mass-casualty outliers delivers the greatest life-saving impact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— Fatalities by Region &amp; Top Organizations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7 &amp; 8 of 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493776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493776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— 96,200 deaths. Sub-Saharan Africa rises due to Boko Haram mass killings</a:t>
            </a:r>
            <a:endParaRPr lang="en-US" sz="8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94960" y="1005840"/>
          <a:ext cx="347472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394960" y="3657600"/>
            <a:ext cx="347472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Taliban (7,478) + ISIL (6,049) — the two most active groups  (H6 Confirmed)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4320" y="3977640"/>
            <a:ext cx="859536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96K deaths — consistent with it having the highest attack count too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 ranks 3rd — Boko Haram drives high-lethality mass events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4632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Taliban (7,478) + ISIL (6,049) = 13,527 combined — top 2 by a wide margin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4632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groups: Shining Path, FARC, IRA were equally dominant in their era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— Regional Trends Over Time &amp; Target Analysis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9 &amp; 10 of 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493776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657600"/>
            <a:ext cx="4937760" cy="256032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America &amp; W. Europe DECLINED — proof terrorism can be successfully reversed</a:t>
            </a:r>
            <a:endParaRPr lang="en-US" sz="8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94960" y="1005840"/>
          <a:ext cx="3474720" cy="25786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5394960" y="3657600"/>
            <a:ext cx="3474720" cy="256032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Citizens = most targeted category globally  (H5 Confirmed)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274320" y="3977640"/>
            <a:ext cx="859536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57200" y="40507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MENA's explosive rise post-2011 = Arab Spring + Syrian Civil War + ISIL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5720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America's dramatic decline is the model counter-terrorism success story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846320" y="43616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Citizens are the #1 target — soft target preference is a global pattern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846320" y="4892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&amp; Government are also heavily targeted — no single sector is fully safe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&amp; Multivariate — Claimed Attacks, Weapons &amp; Heatmap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11, 12 &amp; 13 of 15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274320" y="1005840"/>
          <a:ext cx="2651760" cy="2029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3108960"/>
            <a:ext cx="2651760" cy="292608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attacks avg 53% MORE fatalities  (H7 Partial)</a:t>
            </a:r>
            <a:endParaRPr lang="en-US" sz="8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3108960" y="1005840"/>
          <a:ext cx="3108960" cy="2029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3108960" y="3108960"/>
            <a:ext cx="3108960" cy="292608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Explosives = 150K deaths = 63% of all fatalities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446520" y="10058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13 — Region × Decade Heatmap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446520" y="1298448"/>
            <a:ext cx="2423160" cy="219456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46520" y="1316736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1970s  1980s  1990s  2000s  2010s</a:t>
            </a:r>
            <a:endParaRPr lang="en-US" sz="600" dirty="0"/>
          </a:p>
        </p:txBody>
      </p:sp>
      <p:sp>
        <p:nvSpPr>
          <p:cNvPr id="13" name="Shape 9"/>
          <p:cNvSpPr/>
          <p:nvPr/>
        </p:nvSpPr>
        <p:spPr>
          <a:xfrm>
            <a:off x="6446520" y="1536192"/>
            <a:ext cx="457200" cy="25603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15544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</a:t>
            </a:r>
            <a:endParaRPr lang="en-US" sz="650" dirty="0"/>
          </a:p>
        </p:txBody>
      </p:sp>
      <p:sp>
        <p:nvSpPr>
          <p:cNvPr id="15" name="Shape 11"/>
          <p:cNvSpPr/>
          <p:nvPr/>
        </p:nvSpPr>
        <p:spPr>
          <a:xfrm>
            <a:off x="6922008" y="1536192"/>
            <a:ext cx="3749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22008" y="155448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</a:t>
            </a:r>
            <a:endParaRPr lang="en-US" sz="600" dirty="0"/>
          </a:p>
        </p:txBody>
      </p:sp>
      <p:sp>
        <p:nvSpPr>
          <p:cNvPr id="17" name="Shape 13"/>
          <p:cNvSpPr/>
          <p:nvPr/>
        </p:nvSpPr>
        <p:spPr>
          <a:xfrm>
            <a:off x="7315200" y="1536192"/>
            <a:ext cx="3749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0" y="155448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941</a:t>
            </a:r>
            <a:endParaRPr lang="en-US" sz="600" dirty="0"/>
          </a:p>
        </p:txBody>
      </p:sp>
      <p:sp>
        <p:nvSpPr>
          <p:cNvPr id="19" name="Shape 15"/>
          <p:cNvSpPr/>
          <p:nvPr/>
        </p:nvSpPr>
        <p:spPr>
          <a:xfrm>
            <a:off x="7708392" y="153619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708392" y="155448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600" dirty="0"/>
          </a:p>
        </p:txBody>
      </p:sp>
      <p:sp>
        <p:nvSpPr>
          <p:cNvPr id="21" name="Shape 17"/>
          <p:cNvSpPr/>
          <p:nvPr/>
        </p:nvSpPr>
        <p:spPr>
          <a:xfrm>
            <a:off x="8101584" y="153619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101584" y="155448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600" dirty="0"/>
          </a:p>
        </p:txBody>
      </p:sp>
      <p:sp>
        <p:nvSpPr>
          <p:cNvPr id="23" name="Shape 19"/>
          <p:cNvSpPr/>
          <p:nvPr/>
        </p:nvSpPr>
        <p:spPr>
          <a:xfrm>
            <a:off x="8494776" y="1536192"/>
            <a:ext cx="374904" cy="256032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94776" y="155448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40K</a:t>
            </a:r>
            <a:endParaRPr lang="en-US" sz="600" dirty="0"/>
          </a:p>
        </p:txBody>
      </p:sp>
      <p:sp>
        <p:nvSpPr>
          <p:cNvPr id="25" name="Shape 21"/>
          <p:cNvSpPr/>
          <p:nvPr/>
        </p:nvSpPr>
        <p:spPr>
          <a:xfrm>
            <a:off x="6446520" y="1810512"/>
            <a:ext cx="457200" cy="25603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18288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S.Asia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6922008" y="1810512"/>
            <a:ext cx="3749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22008" y="182880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789</a:t>
            </a:r>
            <a:endParaRPr lang="en-US" sz="600" dirty="0"/>
          </a:p>
        </p:txBody>
      </p:sp>
      <p:sp>
        <p:nvSpPr>
          <p:cNvPr id="29" name="Shape 25"/>
          <p:cNvSpPr/>
          <p:nvPr/>
        </p:nvSpPr>
        <p:spPr>
          <a:xfrm>
            <a:off x="7315200" y="181051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315200" y="182880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600" dirty="0"/>
          </a:p>
        </p:txBody>
      </p:sp>
      <p:sp>
        <p:nvSpPr>
          <p:cNvPr id="31" name="Shape 27"/>
          <p:cNvSpPr/>
          <p:nvPr/>
        </p:nvSpPr>
        <p:spPr>
          <a:xfrm>
            <a:off x="7708392" y="181051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708392" y="182880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8101584" y="1810512"/>
            <a:ext cx="374904" cy="256032"/>
          </a:xfrm>
          <a:prstGeom prst="rect">
            <a:avLst/>
          </a:prstGeom>
          <a:solidFill>
            <a:srgbClr val="EF9A9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8101584" y="182880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9K</a:t>
            </a:r>
            <a:endParaRPr lang="en-US" sz="600" dirty="0"/>
          </a:p>
        </p:txBody>
      </p:sp>
      <p:sp>
        <p:nvSpPr>
          <p:cNvPr id="35" name="Shape 31"/>
          <p:cNvSpPr/>
          <p:nvPr/>
        </p:nvSpPr>
        <p:spPr>
          <a:xfrm>
            <a:off x="8494776" y="1810512"/>
            <a:ext cx="374904" cy="256032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494776" y="182880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26K</a:t>
            </a:r>
            <a:endParaRPr lang="en-US" sz="600" dirty="0"/>
          </a:p>
        </p:txBody>
      </p:sp>
      <p:sp>
        <p:nvSpPr>
          <p:cNvPr id="37" name="Shape 33"/>
          <p:cNvSpPr/>
          <p:nvPr/>
        </p:nvSpPr>
        <p:spPr>
          <a:xfrm>
            <a:off x="6446520" y="2084832"/>
            <a:ext cx="457200" cy="25603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446520" y="21031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 Afr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922008" y="2084832"/>
            <a:ext cx="3749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922008" y="210312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234</a:t>
            </a: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7315200" y="2084832"/>
            <a:ext cx="374904" cy="256032"/>
          </a:xfrm>
          <a:prstGeom prst="rect">
            <a:avLst/>
          </a:prstGeom>
          <a:solidFill>
            <a:srgbClr val="FFEBE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315200" y="210312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</a:t>
            </a:r>
            <a:endParaRPr lang="en-US" sz="600" dirty="0"/>
          </a:p>
        </p:txBody>
      </p:sp>
      <p:sp>
        <p:nvSpPr>
          <p:cNvPr id="43" name="Shape 39"/>
          <p:cNvSpPr/>
          <p:nvPr/>
        </p:nvSpPr>
        <p:spPr>
          <a:xfrm>
            <a:off x="7708392" y="208483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7708392" y="210312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600" dirty="0"/>
          </a:p>
        </p:txBody>
      </p:sp>
      <p:sp>
        <p:nvSpPr>
          <p:cNvPr id="45" name="Shape 41"/>
          <p:cNvSpPr/>
          <p:nvPr/>
        </p:nvSpPr>
        <p:spPr>
          <a:xfrm>
            <a:off x="8101584" y="208483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8101584" y="210312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600" dirty="0"/>
          </a:p>
        </p:txBody>
      </p:sp>
      <p:sp>
        <p:nvSpPr>
          <p:cNvPr id="47" name="Shape 43"/>
          <p:cNvSpPr/>
          <p:nvPr/>
        </p:nvSpPr>
        <p:spPr>
          <a:xfrm>
            <a:off x="8494776" y="2084832"/>
            <a:ext cx="374904" cy="256032"/>
          </a:xfrm>
          <a:prstGeom prst="rect">
            <a:avLst/>
          </a:prstGeom>
          <a:solidFill>
            <a:srgbClr val="E5393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494776" y="210312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18K</a:t>
            </a: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6446520" y="2359152"/>
            <a:ext cx="457200" cy="25603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446520" y="23774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S.Am</a:t>
            </a:r>
            <a:endParaRPr lang="en-US" sz="650" dirty="0"/>
          </a:p>
        </p:txBody>
      </p:sp>
      <p:sp>
        <p:nvSpPr>
          <p:cNvPr id="51" name="Shape 47"/>
          <p:cNvSpPr/>
          <p:nvPr/>
        </p:nvSpPr>
        <p:spPr>
          <a:xfrm>
            <a:off x="6922008" y="235915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6922008" y="237744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600" dirty="0"/>
          </a:p>
        </p:txBody>
      </p:sp>
      <p:sp>
        <p:nvSpPr>
          <p:cNvPr id="53" name="Shape 49"/>
          <p:cNvSpPr/>
          <p:nvPr/>
        </p:nvSpPr>
        <p:spPr>
          <a:xfrm>
            <a:off x="7315200" y="2359152"/>
            <a:ext cx="374904" cy="256032"/>
          </a:xfrm>
          <a:prstGeom prst="rect">
            <a:avLst/>
          </a:prstGeom>
          <a:solidFill>
            <a:srgbClr val="EF9A9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7315200" y="237744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7K</a:t>
            </a:r>
            <a:endParaRPr lang="en-US" sz="600" dirty="0"/>
          </a:p>
        </p:txBody>
      </p:sp>
      <p:sp>
        <p:nvSpPr>
          <p:cNvPr id="55" name="Shape 51"/>
          <p:cNvSpPr/>
          <p:nvPr/>
        </p:nvSpPr>
        <p:spPr>
          <a:xfrm>
            <a:off x="7708392" y="235915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7708392" y="237744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</a:t>
            </a:r>
            <a:endParaRPr lang="en-US" sz="600" dirty="0"/>
          </a:p>
        </p:txBody>
      </p:sp>
      <p:sp>
        <p:nvSpPr>
          <p:cNvPr id="57" name="Shape 53"/>
          <p:cNvSpPr/>
          <p:nvPr/>
        </p:nvSpPr>
        <p:spPr>
          <a:xfrm>
            <a:off x="8101584" y="2359152"/>
            <a:ext cx="3749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8101584" y="237744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</a:t>
            </a:r>
            <a:endParaRPr lang="en-US" sz="600" dirty="0"/>
          </a:p>
        </p:txBody>
      </p:sp>
      <p:sp>
        <p:nvSpPr>
          <p:cNvPr id="59" name="Shape 55"/>
          <p:cNvSpPr/>
          <p:nvPr/>
        </p:nvSpPr>
        <p:spPr>
          <a:xfrm>
            <a:off x="8494776" y="2359152"/>
            <a:ext cx="374904" cy="25603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494776" y="237744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</a:t>
            </a:r>
            <a:endParaRPr lang="en-US" sz="600" dirty="0"/>
          </a:p>
        </p:txBody>
      </p:sp>
      <p:sp>
        <p:nvSpPr>
          <p:cNvPr id="61" name="Shape 57"/>
          <p:cNvSpPr/>
          <p:nvPr/>
        </p:nvSpPr>
        <p:spPr>
          <a:xfrm>
            <a:off x="6446520" y="2633472"/>
            <a:ext cx="457200" cy="256032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6446520" y="265176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W.Eur</a:t>
            </a:r>
            <a:endParaRPr lang="en-US" sz="650" dirty="0"/>
          </a:p>
        </p:txBody>
      </p:sp>
      <p:sp>
        <p:nvSpPr>
          <p:cNvPr id="63" name="Shape 59"/>
          <p:cNvSpPr/>
          <p:nvPr/>
        </p:nvSpPr>
        <p:spPr>
          <a:xfrm>
            <a:off x="6922008" y="263347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6922008" y="265176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3K</a:t>
            </a:r>
            <a:endParaRPr lang="en-US" sz="600" dirty="0"/>
          </a:p>
        </p:txBody>
      </p:sp>
      <p:sp>
        <p:nvSpPr>
          <p:cNvPr id="65" name="Shape 61"/>
          <p:cNvSpPr/>
          <p:nvPr/>
        </p:nvSpPr>
        <p:spPr>
          <a:xfrm>
            <a:off x="7315200" y="263347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7315200" y="265176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</a:t>
            </a:r>
            <a:endParaRPr lang="en-US" sz="600" dirty="0"/>
          </a:p>
        </p:txBody>
      </p:sp>
      <p:sp>
        <p:nvSpPr>
          <p:cNvPr id="67" name="Shape 63"/>
          <p:cNvSpPr/>
          <p:nvPr/>
        </p:nvSpPr>
        <p:spPr>
          <a:xfrm>
            <a:off x="7708392" y="2633472"/>
            <a:ext cx="374904" cy="256032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8" name="Text 64"/>
          <p:cNvSpPr/>
          <p:nvPr/>
        </p:nvSpPr>
        <p:spPr>
          <a:xfrm>
            <a:off x="7708392" y="265176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</a:t>
            </a:r>
            <a:endParaRPr lang="en-US" sz="600" dirty="0"/>
          </a:p>
        </p:txBody>
      </p:sp>
      <p:sp>
        <p:nvSpPr>
          <p:cNvPr id="69" name="Shape 65"/>
          <p:cNvSpPr/>
          <p:nvPr/>
        </p:nvSpPr>
        <p:spPr>
          <a:xfrm>
            <a:off x="8101584" y="2633472"/>
            <a:ext cx="374904" cy="256032"/>
          </a:xfrm>
          <a:prstGeom prst="rect">
            <a:avLst/>
          </a:prstGeom>
          <a:solidFill>
            <a:srgbClr val="FFEBE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0" name="Text 66"/>
          <p:cNvSpPr/>
          <p:nvPr/>
        </p:nvSpPr>
        <p:spPr>
          <a:xfrm>
            <a:off x="8101584" y="265176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</a:t>
            </a:r>
            <a:endParaRPr lang="en-US" sz="600" dirty="0"/>
          </a:p>
        </p:txBody>
      </p:sp>
      <p:sp>
        <p:nvSpPr>
          <p:cNvPr id="71" name="Shape 67"/>
          <p:cNvSpPr/>
          <p:nvPr/>
        </p:nvSpPr>
        <p:spPr>
          <a:xfrm>
            <a:off x="8494776" y="2633472"/>
            <a:ext cx="374904" cy="256032"/>
          </a:xfrm>
          <a:prstGeom prst="rect">
            <a:avLst/>
          </a:prstGeom>
          <a:solidFill>
            <a:srgbClr val="FFEBEE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2" name="Text 68"/>
          <p:cNvSpPr/>
          <p:nvPr/>
        </p:nvSpPr>
        <p:spPr>
          <a:xfrm>
            <a:off x="8494776" y="2651760"/>
            <a:ext cx="374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</a:t>
            </a:r>
            <a:endParaRPr lang="en-US" sz="600" dirty="0"/>
          </a:p>
        </p:txBody>
      </p:sp>
      <p:sp>
        <p:nvSpPr>
          <p:cNvPr id="73" name="Text 69"/>
          <p:cNvSpPr/>
          <p:nvPr/>
        </p:nvSpPr>
        <p:spPr>
          <a:xfrm>
            <a:off x="6446520" y="3108960"/>
            <a:ext cx="2423160" cy="292608"/>
          </a:xfrm>
          <a:prstGeom prst="rect">
            <a:avLst/>
          </a:prstGeom>
          <a:solidFill>
            <a:srgbClr val="FFF3F4"/>
          </a:solidFill>
          <a:ln w="6350">
            <a:solidFill>
              <a:srgbClr val="FFCDD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Hottest cell: MENA 2010s — 40K+ attacks driven by ISIL peak</a:t>
            </a:r>
            <a:endParaRPr lang="en-US" sz="750" dirty="0"/>
          </a:p>
        </p:txBody>
      </p:sp>
      <p:sp>
        <p:nvSpPr>
          <p:cNvPr id="74" name="Shape 70"/>
          <p:cNvSpPr/>
          <p:nvPr/>
        </p:nvSpPr>
        <p:spPr>
          <a:xfrm>
            <a:off x="274320" y="3547872"/>
            <a:ext cx="8595360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5" name="Text 71"/>
          <p:cNvSpPr/>
          <p:nvPr/>
        </p:nvSpPr>
        <p:spPr>
          <a:xfrm>
            <a:off x="457200" y="3621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76" name="Text 72"/>
          <p:cNvSpPr/>
          <p:nvPr/>
        </p:nvSpPr>
        <p:spPr>
          <a:xfrm>
            <a:off x="457200" y="38953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attacks kill 53% more on avg — groups claim spectacular, high-casualty events</a:t>
            </a:r>
            <a:endParaRPr lang="en-US" sz="900" dirty="0"/>
          </a:p>
        </p:txBody>
      </p:sp>
      <p:sp>
        <p:nvSpPr>
          <p:cNvPr id="77" name="Text 73"/>
          <p:cNvSpPr/>
          <p:nvPr/>
        </p:nvSpPr>
        <p:spPr>
          <a:xfrm>
            <a:off x="45720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Explosives cause 63% of all terrorism fatalities — the #1 preventive lever globally</a:t>
            </a:r>
            <a:endParaRPr lang="en-US" sz="900" dirty="0"/>
          </a:p>
        </p:txBody>
      </p:sp>
      <p:sp>
        <p:nvSpPr>
          <p:cNvPr id="78" name="Text 74"/>
          <p:cNvSpPr/>
          <p:nvPr/>
        </p:nvSpPr>
        <p:spPr>
          <a:xfrm>
            <a:off x="4846320" y="38953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2010s is the hottest cell in 47 years — driven by ISIL at its territorial peak</a:t>
            </a:r>
            <a:endParaRPr lang="en-US" sz="900" dirty="0"/>
          </a:p>
        </p:txBody>
      </p:sp>
      <p:sp>
        <p:nvSpPr>
          <p:cNvPr id="79" name="Text 75"/>
          <p:cNvSpPr/>
          <p:nvPr/>
        </p:nvSpPr>
        <p:spPr>
          <a:xfrm>
            <a:off x="4846320" y="43159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cooled completely by 2010s — a proven model for counter-insurgency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— Correlation Analysis &amp; Statistical Relationships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14 &amp; 15 of 15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14 — Correlation Heatmap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316736"/>
            <a:ext cx="685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1316736"/>
            <a:ext cx="685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3350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nkill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664208" y="1316736"/>
            <a:ext cx="685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13350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nwound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2350008" y="1316736"/>
            <a:ext cx="685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13350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total_cas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035808" y="1316736"/>
            <a:ext cx="685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35808" y="13350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721608" y="1316736"/>
            <a:ext cx="685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13350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iyear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407408" y="1316736"/>
            <a:ext cx="685800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07408" y="1335024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74320" y="1609344"/>
            <a:ext cx="6858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nkill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978408" y="1609344"/>
            <a:ext cx="685800" cy="274320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16276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1883664"/>
            <a:ext cx="6858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9019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nwound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78408" y="1883664"/>
            <a:ext cx="685800" cy="274320"/>
          </a:xfrm>
          <a:prstGeom prst="rect">
            <a:avLst/>
          </a:prstGeom>
          <a:solidFill>
            <a:srgbClr val="EF9A9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19019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664208" y="1883664"/>
            <a:ext cx="685800" cy="274320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64208" y="190195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157984"/>
            <a:ext cx="6858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1762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total_cas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78408" y="2157984"/>
            <a:ext cx="685800" cy="274320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8408" y="21762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1664208" y="2157984"/>
            <a:ext cx="685800" cy="274320"/>
          </a:xfrm>
          <a:prstGeom prst="rect">
            <a:avLst/>
          </a:prstGeom>
          <a:solidFill>
            <a:srgbClr val="E5393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64208" y="21762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50008" y="2157984"/>
            <a:ext cx="685800" cy="274320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50008" y="217627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432304"/>
            <a:ext cx="6858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4505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978408" y="2432304"/>
            <a:ext cx="685800" cy="274320"/>
          </a:xfrm>
          <a:prstGeom prst="rect">
            <a:avLst/>
          </a:prstGeom>
          <a:solidFill>
            <a:srgbClr val="FFCDD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8408" y="24505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1664208" y="243230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64208" y="24505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350008" y="243230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50008" y="24505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035808" y="2432304"/>
            <a:ext cx="685800" cy="274320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5808" y="245059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2706624"/>
            <a:ext cx="6858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27249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iyear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978408" y="270662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78408" y="27249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664208" y="270662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664208" y="27249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350008" y="270662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50008" y="27249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035808" y="270662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035808" y="27249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721608" y="2706624"/>
            <a:ext cx="685800" cy="274320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21608" y="272491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74320" y="2980944"/>
            <a:ext cx="6858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2999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978408" y="298094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78408" y="2999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664208" y="298094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664208" y="2999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350008" y="298094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50008" y="2999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035808" y="298094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035808" y="2999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0.11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721608" y="2980944"/>
            <a:ext cx="685800" cy="274320"/>
          </a:xfrm>
          <a:prstGeom prst="rect">
            <a:avLst/>
          </a:prstGeom>
          <a:solidFill>
            <a:srgbClr val="F3E5F5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21608" y="2999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07408" y="2980944"/>
            <a:ext cx="685800" cy="274320"/>
          </a:xfrm>
          <a:prstGeom prst="rect">
            <a:avLst/>
          </a:prstGeom>
          <a:solidFill>
            <a:srgbClr val="B71C1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407408" y="2999232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394960" y="1024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15 — Statistical Findings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394960" y="1316736"/>
            <a:ext cx="347472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5394960" y="1316736"/>
            <a:ext cx="45720" cy="365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532120" y="134416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nkill ↔ total_casualties  r = 0.89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532120" y="1517904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 — total casualties dominated by kill count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394960" y="1737360"/>
            <a:ext cx="347472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0" name="Shape 78"/>
          <p:cNvSpPr/>
          <p:nvPr/>
        </p:nvSpPr>
        <p:spPr>
          <a:xfrm>
            <a:off x="5394960" y="1737360"/>
            <a:ext cx="45720" cy="365760"/>
          </a:xfrm>
          <a:prstGeom prst="rect">
            <a:avLst/>
          </a:prstGeom>
          <a:solidFill>
            <a:srgbClr val="1A6BAD"/>
          </a:solidFill>
          <a:ln w="12700">
            <a:solidFill>
              <a:srgbClr val="1A6BA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532120" y="1764792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nkill ↔ nwound  r = 0.41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532120" y="193852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lethal attacks also wound more people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5394960" y="2157984"/>
            <a:ext cx="347472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5394960" y="2157984"/>
            <a:ext cx="45720" cy="3657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532120" y="2185416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↔ nkill  r = 0.18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5532120" y="2359152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— suicide attacks are measurably more lethal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5394960" y="2578608"/>
            <a:ext cx="347472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8" name="Shape 86"/>
          <p:cNvSpPr/>
          <p:nvPr/>
        </p:nvSpPr>
        <p:spPr>
          <a:xfrm>
            <a:off x="5394960" y="2578608"/>
            <a:ext cx="45720" cy="3657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532120" y="260604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iyear ↔ nkill  r = 0.09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5532120" y="2779776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trend — attacks becoming marginally more lethal over time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5394960" y="2999232"/>
            <a:ext cx="347472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5394960" y="2999232"/>
            <a:ext cx="45720" cy="365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532120" y="3026664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↔ nkill  r = 0.06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5532120" y="3200400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— claimed attacks slightly more deadly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3493008"/>
            <a:ext cx="8595360" cy="15727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6" name="Text 94"/>
          <p:cNvSpPr/>
          <p:nvPr/>
        </p:nvSpPr>
        <p:spPr>
          <a:xfrm>
            <a:off x="45720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457200" y="38770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nkill &amp; total_casualties: r=0.89 — kill count dominates the casualty metric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457200" y="4407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attacks have clearly distinct, higher casualty profiles (r=0.18, positive)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4846320" y="38770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iyear trend (r=0.09) suggests modern attacks are slightly more lethal on average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4846320" y="440740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plot KDE confirms heavy right-skew — a small number of outliers drive all totals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— Final Verdicts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— Evidence-based conclusions on all 8 hypotheses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789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143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increased significantly after 2001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1426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surge post-9/11; peaked 2014 at 16,900+ incidents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0" y="1280160"/>
            <a:ext cx="621792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280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933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9933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057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is the most targeted region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3408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47,049 attacks — 25% of global total; highest fatalities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0" y="2194560"/>
            <a:ext cx="621792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21945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9077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077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29077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 is the most common attack type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255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83,432 incidents = 45%+ of all recorded attacks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0" y="3108960"/>
            <a:ext cx="621792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31089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8221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8221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3886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Bombings cause the highest avg fatalities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total kills; avg per-attack varies by type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840480" y="4023360"/>
            <a:ext cx="62179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0233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09160" y="10789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0789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0789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12080" y="1143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Citizens are most common target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12080" y="14264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43,509 incidents — #1 target category globally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275320" y="1280160"/>
            <a:ext cx="621792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75320" y="12801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709160" y="19933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19933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19933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20574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Taliban &amp; ISIL lead active groups post-2000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23408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Taliban: 7,478 | ISIL: 6,049 attacks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275320" y="2194560"/>
            <a:ext cx="621792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21945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29077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709160" y="29077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09160" y="29077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12080" y="29718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Unclaimed attacks result in fewer casualties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212080" y="32552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Claimed avg 3.12 vs unclaimed 2.04 killed per attack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8275320" y="3108960"/>
            <a:ext cx="621792" cy="32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75320" y="31089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709160" y="3822192"/>
            <a:ext cx="4251960" cy="7680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4709160" y="3822192"/>
            <a:ext cx="411480" cy="768096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3822192"/>
            <a:ext cx="411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212080" y="38862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Iraq is the single most attacked country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12080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24,636 attacks — nearly 2× Pakistan in second place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275320" y="4023360"/>
            <a:ext cx="621792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75320" y="4023360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389120" cy="4389120"/>
          </a:xfrm>
          <a:prstGeom prst="ellipse">
            <a:avLst/>
          </a:prstGeom>
          <a:solidFill>
            <a:srgbClr val="B02030">
              <a:alpha val="18000"/>
            </a:srgbClr>
          </a:solidFill>
          <a:ln w="12700">
            <a:solidFill>
              <a:srgbClr val="B02030">
                <a:alpha val="1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Insights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70432"/>
            <a:ext cx="54864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25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Post-2001 Surge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517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tripled after 9/11; 2014–16 = all-time peak driven by ISIL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20848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084832"/>
            <a:ext cx="54864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1396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is Global Epicenter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4323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attacks + highest total deaths — Iraq alone: 24K+ incidents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29992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2999232"/>
            <a:ext cx="54864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0540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Bombing Dominates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45%+ of attacks use explosives; responsible for 63% of all fatalities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" y="3913632"/>
            <a:ext cx="54864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9684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Target Preference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4261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citizens are the #1 target — terrorism targets everyday civilian life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1170432"/>
            <a:ext cx="54864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252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1234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Taliban &amp; ISIL Lead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57800" y="15179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 most active groups combined: 13,527 attacks over 47 years of data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54880" y="20848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2084832"/>
            <a:ext cx="54864" cy="7772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1396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21488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Terrorism CAN be Reversed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57800" y="24323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America &amp; W. Europe dramatically reduced attacks — the evidence is clear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9992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6" name="Shape 34"/>
          <p:cNvSpPr/>
          <p:nvPr/>
        </p:nvSpPr>
        <p:spPr>
          <a:xfrm>
            <a:off x="4754880" y="2999232"/>
            <a:ext cx="54864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0540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5780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Suicide = More Lethal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257800" y="33467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confirmed: suicide attacks are measurably more deadly per event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3913632"/>
            <a:ext cx="420624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4880" y="3913632"/>
            <a:ext cx="54864" cy="7772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9684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3977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Attribution Gap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57800" y="42611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40% of attacks remain 'Unknown' — a critical intelligence gap to close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109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for Stakeholders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28600" y="5943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 — Evidence-based strategic actions for global security organizations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425196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Geographic Prioritization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UN peacekeeping and aid on Iraq, Afghanistan, Pakistan, Syria &amp; Nigeria — the 5 countries accounting for 50%+ of global attacks.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078992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78992"/>
            <a:ext cx="425196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Explosive Control &amp; IED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149961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explosive precursor chemical controls, IED detection technology and EOD capabilities at all transport hubs and public spaces.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95728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95728"/>
            <a:ext cx="425196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505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Target Top Organizations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2816352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intelligence resources at Taliban, ISIL, Al-Shabaab &amp; Boko Haram. Apply the IRA/FARC deescalation model as a proven political template.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395728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395728"/>
            <a:ext cx="425196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5054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  Civilian Protection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816352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public security — CCTV, community policing, anonymous tip lines. Private citizens are the #1 target and need structural protection.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712464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712464"/>
            <a:ext cx="425196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 Early Warning Systems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1480" y="413308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temporal trend data to flag escalating attack frequencies before crisis levels. Apply machine learning for predictive threat scoring.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3712464"/>
            <a:ext cx="42519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712464"/>
            <a:ext cx="4251960" cy="64008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8221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  Close Attribution Gap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46320" y="413308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of attacks remain 'Unknown.' Invest in digital forensics and intel sharing — directly increasing future analytical and policy value.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1A3557">
              <a:alpha val="40000"/>
            </a:srgbClr>
          </a:solidFill>
          <a:ln w="12700">
            <a:solidFill>
              <a:srgbClr val="1A355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  — 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Final Thoughts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727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Analyzed 181,691 incidents across 205 countries over 47 years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9751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15 visualizations following the full UBM EDA framework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8 hypotheses tested — 6 fully confirmed, 2 partially confirmed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MENA &amp; South Asia remain the highest-risk regions globally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Explosives = #1 weapon; Private citizens = #1 target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5727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40%+ attacks attributed to 'Unknown' groups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19751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Reporting bias in active conflict zones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0" y="2377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Casualty data ~40% missing (zero-filled)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277977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Dataset ends 2017 — post-ISIL era absent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74520" y="3794760"/>
            <a:ext cx="16002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7452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11880" y="3794760"/>
            <a:ext cx="16002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1188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on summaries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349240" y="3794760"/>
            <a:ext cx="16002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integration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86600" y="3794760"/>
            <a:ext cx="1600200" cy="27432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3794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669280" cy="5669280"/>
          </a:xfrm>
          <a:prstGeom prst="ellipse">
            <a:avLst/>
          </a:prstGeom>
          <a:solidFill>
            <a:srgbClr val="E63946">
              <a:alpha val="12000"/>
            </a:srgbClr>
          </a:solidFill>
          <a:ln w="12700">
            <a:solidFill>
              <a:srgbClr val="E6394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11680" y="2011680"/>
            <a:ext cx="5303520" cy="5303520"/>
          </a:xfrm>
          <a:prstGeom prst="ellipse">
            <a:avLst/>
          </a:prstGeom>
          <a:solidFill>
            <a:srgbClr val="1A3557">
              <a:alpha val="50000"/>
            </a:srgbClr>
          </a:solidFill>
          <a:ln w="12700">
            <a:solidFill>
              <a:srgbClr val="1A355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462272"/>
            <a:ext cx="9144000" cy="6812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822960"/>
            <a:ext cx="7315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 Global Terrorism Analysis — EDA Capstone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0" y="2697480"/>
            <a:ext cx="3657600" cy="822960"/>
          </a:xfrm>
          <a:prstGeom prst="rect">
            <a:avLst/>
          </a:prstGeom>
          <a:solidFill>
            <a:srgbClr val="1A3557"/>
          </a:solidFill>
          <a:ln w="12700">
            <a:solidFill>
              <a:srgbClr val="1A3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72491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Shiv Bijay Deep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0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Capstone Project  |  Data Science &amp; Analytics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14400" y="452628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Global Terrorism Database (GTD) — START Center, University of Maryland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 Global Terrorism Analysis — EDA</dc:title>
  <dc:subject>PptxGenJS Presentation</dc:subject>
  <dc:creator>Shiv Bijay Deep</dc:creator>
  <cp:lastModifiedBy>Shiv Bijay Deep</cp:lastModifiedBy>
  <cp:revision>1</cp:revision>
  <dcterms:created xsi:type="dcterms:W3CDTF">2026-03-15T14:30:16Z</dcterms:created>
  <dcterms:modified xsi:type="dcterms:W3CDTF">2026-03-15T14:30:16Z</dcterms:modified>
</cp:coreProperties>
</file>